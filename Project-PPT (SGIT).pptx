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61" r:id="rId2"/>
    <p:sldId id="264" r:id="rId3"/>
    <p:sldId id="265" r:id="rId4"/>
    <p:sldId id="262" r:id="rId5"/>
    <p:sldId id="259" r:id="rId6"/>
    <p:sldId id="266" r:id="rId7"/>
    <p:sldId id="263" r:id="rId8"/>
    <p:sldId id="267" r:id="rId9"/>
    <p:sldId id="260" r:id="rId10"/>
    <p:sldId id="268" r:id="rId11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3"/>
    </p:embeddedFont>
    <p:embeddedFont>
      <p:font typeface="Cairo" panose="020B0604020202020204" charset="-78"/>
      <p:regular r:id="rId14"/>
      <p:bold r:id="rId15"/>
    </p:embeddedFont>
    <p:embeddedFont>
      <p:font typeface="Nunito" pitchFamily="2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34072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898103459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898103459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897fc2e5ee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897fc2e5ee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897fc2e5ee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897fc2e5ee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897fc2e5ee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897fc2e5ee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897fc2e5ee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897fc2e5ee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897fc2e5ee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897fc2e5ee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897fc2e5ee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897fc2e5ee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897fc2e5ee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897fc2e5ee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897fc2e5ee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897fc2e5ee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hyperlink" Target="https://remix.ethereum.org/" TargetMode="External"/><Relationship Id="rId7" Type="http://schemas.openxmlformats.org/officeDocument/2006/relationships/hyperlink" Target="https://microsoft.github.io/monaco-editor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ocket.io/docs/v4/" TargetMode="External"/><Relationship Id="rId5" Type="http://schemas.openxmlformats.org/officeDocument/2006/relationships/hyperlink" Target="https://ce.judge0.com/docs" TargetMode="External"/><Relationship Id="rId4" Type="http://schemas.openxmlformats.org/officeDocument/2006/relationships/hyperlink" Target="https://onecompiler.com/" TargetMode="Externa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/>
          <p:nvPr/>
        </p:nvSpPr>
        <p:spPr>
          <a:xfrm>
            <a:off x="217528" y="220790"/>
            <a:ext cx="8735400" cy="47363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774128" y="1123715"/>
            <a:ext cx="7730894" cy="3139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lang="en-IN" sz="2000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IN" sz="2000" dirty="0">
                <a:solidFill>
                  <a:srgbClr val="002060"/>
                </a:solidFill>
                <a:latin typeface="Arial Black" panose="020B0A04020102020204" pitchFamily="34" charset="0"/>
              </a:rPr>
              <a:t>Project Name</a:t>
            </a:r>
          </a:p>
          <a:p>
            <a:pPr algn="ctr"/>
            <a:r>
              <a:rPr lang="en-IN" sz="2000" dirty="0">
                <a:solidFill>
                  <a:srgbClr val="FF0000"/>
                </a:solidFill>
                <a:latin typeface="Arial Black" panose="020B0A04020102020204" pitchFamily="34" charset="0"/>
              </a:rPr>
              <a:t>B-Tech in Artificial intelligence Machine Learning</a:t>
            </a:r>
          </a:p>
          <a:p>
            <a:pPr algn="ctr"/>
            <a:r>
              <a:rPr lang="en-IN" sz="1600" dirty="0">
                <a:solidFill>
                  <a:srgbClr val="002060"/>
                </a:solidFill>
                <a:latin typeface="Arial Black" panose="020B0A04020102020204" pitchFamily="34" charset="0"/>
              </a:rPr>
              <a:t>  </a:t>
            </a:r>
          </a:p>
          <a:p>
            <a:pPr algn="ctr"/>
            <a:r>
              <a:rPr lang="en-IN" sz="1800" dirty="0">
                <a:solidFill>
                  <a:srgbClr val="002060"/>
                </a:solidFill>
                <a:latin typeface="Arial Black" panose="020B0A04020102020204" pitchFamily="34" charset="0"/>
              </a:rPr>
              <a:t>Presented By: </a:t>
            </a:r>
          </a:p>
          <a:p>
            <a:pPr algn="just"/>
            <a:r>
              <a:rPr lang="en-IN" sz="1800" dirty="0">
                <a:solidFill>
                  <a:srgbClr val="002060"/>
                </a:solidFill>
                <a:latin typeface="Arial Black" panose="020B0A04020102020204" pitchFamily="34" charset="0"/>
              </a:rPr>
              <a:t>	</a:t>
            </a:r>
          </a:p>
          <a:p>
            <a:pPr algn="just"/>
            <a:r>
              <a:rPr lang="en-IN" sz="1800" dirty="0">
                <a:solidFill>
                  <a:srgbClr val="002060"/>
                </a:solidFill>
                <a:latin typeface="Arial Black" panose="020B0A04020102020204" pitchFamily="34" charset="0"/>
              </a:rPr>
              <a:t>	Student name        ANMOL SINGH</a:t>
            </a:r>
          </a:p>
          <a:p>
            <a:pPr algn="just"/>
            <a:r>
              <a:rPr lang="en-US" sz="1800" b="1" dirty="0">
                <a:solidFill>
                  <a:srgbClr val="002060"/>
                </a:solidFill>
                <a:latin typeface="Arial Black" panose="020B0A04020102020204" pitchFamily="34" charset="0"/>
              </a:rPr>
              <a:t>	Roll No	    2502151540001              </a:t>
            </a:r>
          </a:p>
          <a:p>
            <a:pPr algn="just"/>
            <a:r>
              <a:rPr lang="en-US" sz="1800" b="1" dirty="0">
                <a:solidFill>
                  <a:srgbClr val="002060"/>
                </a:solidFill>
                <a:latin typeface="Arial Black" panose="020B0A04020102020204" pitchFamily="34" charset="0"/>
              </a:rPr>
              <a:t>	Registration No     25DS011</a:t>
            </a:r>
          </a:p>
          <a:p>
            <a:pPr algn="just"/>
            <a:endParaRPr lang="en-US" sz="16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IN" sz="1600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IN" sz="1800" dirty="0">
                <a:solidFill>
                  <a:srgbClr val="002060"/>
                </a:solidFill>
                <a:latin typeface="Arial Black" panose="020B0A04020102020204" pitchFamily="34" charset="0"/>
              </a:rPr>
              <a:t>Guided By:</a:t>
            </a:r>
          </a:p>
          <a:p>
            <a:pPr algn="ctr"/>
            <a:r>
              <a:rPr lang="en-IN" sz="1800" dirty="0">
                <a:solidFill>
                  <a:srgbClr val="002060"/>
                </a:solidFill>
                <a:latin typeface="Arial Black" panose="020B0A04020102020204" pitchFamily="34" charset="0"/>
              </a:rPr>
              <a:t>  Supervisor name </a:t>
            </a:r>
            <a:endParaRPr lang="en-IN" sz="18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IN" sz="16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IN" sz="16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</a:p>
          <a:p>
            <a:pPr algn="ctr"/>
            <a:endParaRPr lang="en-IN" sz="16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IN" sz="18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Sanskar</a:t>
            </a:r>
            <a:r>
              <a:rPr lang="en-IN" sz="1800" b="1" dirty="0">
                <a:solidFill>
                  <a:srgbClr val="002060"/>
                </a:solidFill>
                <a:latin typeface="Arial Black" panose="020B0A04020102020204" pitchFamily="34" charset="0"/>
              </a:rPr>
              <a:t> College of Engineering &amp; Technology</a:t>
            </a:r>
          </a:p>
          <a:p>
            <a:pPr algn="ctr"/>
            <a:r>
              <a:rPr lang="en-IN" sz="1800" b="1" dirty="0">
                <a:solidFill>
                  <a:srgbClr val="002060"/>
                </a:solidFill>
                <a:latin typeface="Arial Black" panose="020B0A04020102020204" pitchFamily="34" charset="0"/>
              </a:rPr>
              <a:t>Department of Computer Science and Engineering</a:t>
            </a:r>
          </a:p>
          <a:p>
            <a:pPr algn="just"/>
            <a:endParaRPr lang="en-IN" sz="1600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lvl="0" algn="ctr"/>
            <a:endParaRPr lang="en-US" sz="1600" dirty="0">
              <a:latin typeface="Cairo" charset="-78"/>
              <a:cs typeface="Cairo" charset="-78"/>
            </a:endParaRPr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6153" y="3797455"/>
            <a:ext cx="930670" cy="46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211" y="1622977"/>
            <a:ext cx="7505700" cy="2448000"/>
          </a:xfrm>
        </p:spPr>
        <p:txBody>
          <a:bodyPr/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Motivation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Introduction to Geospatial Data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Technologies used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Proposed Method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Key features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Flow Diagram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2900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8B05E0-3A51-F266-B026-253379B212C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 bwMode="auto">
          <a:xfrm>
            <a:off x="2530069" y="625642"/>
            <a:ext cx="4083862" cy="4083862"/>
          </a:xfrm>
          <a:prstGeom prst="rect">
            <a:avLst/>
          </a:prstGeom>
          <a:effectLst>
            <a:outerShdw blurRad="50800" dist="381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143" name="Google Shape;143;p15"/>
          <p:cNvSpPr txBox="1">
            <a:spLocks noGrp="1"/>
          </p:cNvSpPr>
          <p:nvPr>
            <p:ph type="title"/>
          </p:nvPr>
        </p:nvSpPr>
        <p:spPr>
          <a:xfrm>
            <a:off x="819150" y="683850"/>
            <a:ext cx="7505700" cy="5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 b="1" dirty="0">
                <a:solidFill>
                  <a:srgbClr val="000000"/>
                </a:solidFill>
                <a:latin typeface="Times New Roman" pitchFamily="18" charset="0"/>
                <a:ea typeface="Cairo"/>
                <a:cs typeface="Times New Roman" pitchFamily="18" charset="0"/>
                <a:sym typeface="Cairo"/>
              </a:rPr>
              <a:t>MOTIVATION</a:t>
            </a:r>
            <a:endParaRPr sz="2600" b="1" dirty="0">
              <a:solidFill>
                <a:srgbClr val="000000"/>
              </a:solidFill>
              <a:latin typeface="Times New Roman" pitchFamily="18" charset="0"/>
              <a:ea typeface="Cairo"/>
              <a:cs typeface="Times New Roman" pitchFamily="18" charset="0"/>
              <a:sym typeface="Cairo"/>
            </a:endParaRPr>
          </a:p>
        </p:txBody>
      </p:sp>
      <p:sp>
        <p:nvSpPr>
          <p:cNvPr id="144" name="Google Shape;144;p15"/>
          <p:cNvSpPr txBox="1">
            <a:spLocks noGrp="1"/>
          </p:cNvSpPr>
          <p:nvPr>
            <p:ph type="body" idx="1"/>
          </p:nvPr>
        </p:nvSpPr>
        <p:spPr>
          <a:xfrm>
            <a:off x="819150" y="1510125"/>
            <a:ext cx="7505700" cy="28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sz="1800" dirty="0">
                <a:latin typeface="Times New Roman" pitchFamily="18" charset="0"/>
                <a:ea typeface="Cairo"/>
                <a:cs typeface="Times New Roman" pitchFamily="18" charset="0"/>
                <a:sym typeface="Cairo"/>
              </a:rPr>
              <a:t>Write your text here</a:t>
            </a:r>
            <a:r>
              <a:rPr lang="en-IN" sz="1800" dirty="0"/>
              <a:t>To provide a simple and accessible online coding environment without complex setup.</a:t>
            </a:r>
          </a:p>
          <a:p>
            <a:pPr lvl="0">
              <a:lnSpc>
                <a:spcPct val="100000"/>
              </a:lnSpc>
            </a:pPr>
            <a:r>
              <a:rPr lang="en-IN" sz="1800" dirty="0"/>
              <a:t>To enable real-time collaborative coding, allowing multiple users to connect and work together on the same screen.</a:t>
            </a:r>
          </a:p>
          <a:p>
            <a:pPr lvl="0">
              <a:lnSpc>
                <a:spcPct val="100000"/>
              </a:lnSpc>
            </a:pPr>
            <a:r>
              <a:rPr lang="en-IN" sz="1800" dirty="0"/>
              <a:t>To introduce a split input/output feature for a smoother coding and execution experience.</a:t>
            </a:r>
          </a:p>
          <a:p>
            <a:pPr lvl="0">
              <a:lnSpc>
                <a:spcPct val="100000"/>
              </a:lnSpc>
            </a:pPr>
            <a:r>
              <a:rPr lang="en-IN" sz="1800" dirty="0"/>
              <a:t>To help students and developers write, test, debug, and share code efficiently.</a:t>
            </a:r>
          </a:p>
        </p:txBody>
      </p:sp>
      <p:pic>
        <p:nvPicPr>
          <p:cNvPr id="6" name="Picture 2" descr="logo-seg-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500135" y="4325224"/>
            <a:ext cx="1343951" cy="5157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86044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>
            <a:spLocks noGrp="1"/>
          </p:cNvSpPr>
          <p:nvPr>
            <p:ph type="title"/>
          </p:nvPr>
        </p:nvSpPr>
        <p:spPr>
          <a:xfrm>
            <a:off x="819150" y="683850"/>
            <a:ext cx="7505700" cy="5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 b="1" dirty="0">
                <a:solidFill>
                  <a:srgbClr val="000000"/>
                </a:solidFill>
                <a:latin typeface="Times New Roman" pitchFamily="18" charset="0"/>
                <a:ea typeface="Cairo"/>
                <a:cs typeface="Times New Roman" pitchFamily="18" charset="0"/>
                <a:sym typeface="Cairo"/>
              </a:rPr>
              <a:t>INTRODUCTION</a:t>
            </a:r>
            <a:br>
              <a:rPr lang="en" sz="2600" b="1" dirty="0">
                <a:solidFill>
                  <a:srgbClr val="000000"/>
                </a:solidFill>
                <a:latin typeface="Times New Roman" pitchFamily="18" charset="0"/>
                <a:ea typeface="Cairo"/>
                <a:cs typeface="Times New Roman" pitchFamily="18" charset="0"/>
                <a:sym typeface="Cairo"/>
              </a:rPr>
            </a:br>
            <a:br>
              <a:rPr lang="en" sz="2600" b="1" dirty="0">
                <a:solidFill>
                  <a:srgbClr val="000000"/>
                </a:solidFill>
                <a:latin typeface="Times New Roman" pitchFamily="18" charset="0"/>
                <a:ea typeface="Cairo"/>
                <a:cs typeface="Times New Roman" pitchFamily="18" charset="0"/>
                <a:sym typeface="Cairo"/>
              </a:rPr>
            </a:br>
            <a:br>
              <a:rPr lang="en" sz="2600" b="1" dirty="0">
                <a:solidFill>
                  <a:srgbClr val="000000"/>
                </a:solidFill>
                <a:latin typeface="Times New Roman" pitchFamily="18" charset="0"/>
                <a:ea typeface="Cairo"/>
                <a:cs typeface="Times New Roman" pitchFamily="18" charset="0"/>
                <a:sym typeface="Cairo"/>
              </a:rPr>
            </a:br>
            <a:endParaRPr sz="2600" b="1" dirty="0">
              <a:solidFill>
                <a:srgbClr val="000000"/>
              </a:solidFill>
              <a:latin typeface="Times New Roman" pitchFamily="18" charset="0"/>
              <a:ea typeface="Cairo"/>
              <a:cs typeface="Times New Roman" pitchFamily="18" charset="0"/>
              <a:sym typeface="Cairo"/>
            </a:endParaRPr>
          </a:p>
        </p:txBody>
      </p:sp>
      <p:sp>
        <p:nvSpPr>
          <p:cNvPr id="144" name="Google Shape;144;p15"/>
          <p:cNvSpPr txBox="1">
            <a:spLocks noGrp="1"/>
          </p:cNvSpPr>
          <p:nvPr>
            <p:ph type="body" idx="1"/>
          </p:nvPr>
        </p:nvSpPr>
        <p:spPr>
          <a:xfrm>
            <a:off x="666410" y="1381637"/>
            <a:ext cx="7505700" cy="28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buNone/>
            </a:pPr>
            <a:r>
              <a:rPr lang="en-IN" sz="2000" b="1" dirty="0" err="1"/>
              <a:t>Loferyx</a:t>
            </a:r>
            <a:r>
              <a:rPr lang="en-IN" sz="2000" b="1" dirty="0"/>
              <a:t> Compiler </a:t>
            </a:r>
            <a:r>
              <a:rPr lang="en-IN" sz="2000" dirty="0"/>
              <a:t>is an online coding platform that allows users to write, compile, and execute programs in a convenient environment.</a:t>
            </a:r>
          </a:p>
          <a:p>
            <a:pPr lvl="0"/>
            <a:r>
              <a:rPr lang="en-IN" sz="1400" dirty="0"/>
              <a:t>Provides an accessible platform for coding and program execution.</a:t>
            </a:r>
          </a:p>
          <a:p>
            <a:pPr lvl="0"/>
            <a:r>
              <a:rPr lang="en-IN" sz="1400" dirty="0"/>
              <a:t>Supports real-time collaboration on the same coding screen.</a:t>
            </a:r>
          </a:p>
          <a:p>
            <a:pPr lvl="0"/>
            <a:r>
              <a:rPr lang="en-IN" sz="1400" dirty="0"/>
              <a:t>Offers a split input/output interface for efficient testing and debugging.</a:t>
            </a:r>
          </a:p>
          <a:p>
            <a:pPr lvl="0"/>
            <a:r>
              <a:rPr lang="en-IN" sz="1400" dirty="0"/>
              <a:t>Aims to make programming easier, faster, and more interactive for students and developers.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Times New Roman" pitchFamily="18" charset="0"/>
              <a:ea typeface="Cairo"/>
              <a:cs typeface="Times New Roman" pitchFamily="18" charset="0"/>
              <a:sym typeface="Cairo"/>
            </a:endParaRPr>
          </a:p>
        </p:txBody>
      </p:sp>
      <p:pic>
        <p:nvPicPr>
          <p:cNvPr id="6" name="Picture 2" descr="logo-seg-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00135" y="4325224"/>
            <a:ext cx="1343951" cy="515742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F33736-729A-A5EF-DBAE-7B83E4000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7485" y="241433"/>
            <a:ext cx="1869250" cy="1869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5570A0-0200-417E-B125-22DBC858DCF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2000"/>
          </a:blip>
          <a:stretch>
            <a:fillRect/>
          </a:stretch>
        </p:blipFill>
        <p:spPr bwMode="auto">
          <a:xfrm>
            <a:off x="2530069" y="625642"/>
            <a:ext cx="4083862" cy="4083862"/>
          </a:xfrm>
          <a:prstGeom prst="rect">
            <a:avLst/>
          </a:prstGeom>
          <a:effectLst>
            <a:outerShdw blurRad="50800" dist="38100" dir="5400000" algn="ctr" rotWithShape="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658950" y="589325"/>
            <a:ext cx="76662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000000"/>
                </a:solidFill>
                <a:latin typeface="Times New Roman" pitchFamily="18" charset="0"/>
                <a:ea typeface="Cairo"/>
                <a:cs typeface="Times New Roman" pitchFamily="18" charset="0"/>
                <a:sym typeface="Cairo"/>
              </a:rPr>
              <a:t>TECHNOLOGIES USED</a:t>
            </a:r>
            <a:endParaRPr sz="2600" b="1" dirty="0">
              <a:solidFill>
                <a:srgbClr val="000000"/>
              </a:solidFill>
              <a:latin typeface="Times New Roman" pitchFamily="18" charset="0"/>
              <a:ea typeface="Cairo"/>
              <a:cs typeface="Times New Roman" pitchFamily="18" charset="0"/>
              <a:sym typeface="Cairo"/>
            </a:endParaRPr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1"/>
          </p:nvPr>
        </p:nvSpPr>
        <p:spPr>
          <a:xfrm>
            <a:off x="732150" y="1386700"/>
            <a:ext cx="7592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IN" sz="1800" b="1" dirty="0"/>
              <a:t>Frontend:</a:t>
            </a:r>
            <a:r>
              <a:rPr lang="en-IN" sz="1800" dirty="0"/>
              <a:t> React.js, HTML, CSS, JavaScript</a:t>
            </a:r>
          </a:p>
          <a:p>
            <a:pPr lvl="0"/>
            <a:r>
              <a:rPr lang="en-IN" sz="1800" b="1" dirty="0"/>
              <a:t>Backend:</a:t>
            </a:r>
            <a:r>
              <a:rPr lang="en-IN" sz="1800" dirty="0"/>
              <a:t> Node.js, Express.js</a:t>
            </a:r>
          </a:p>
          <a:p>
            <a:pPr lvl="0"/>
            <a:r>
              <a:rPr lang="en-IN" sz="1800" b="1" dirty="0"/>
              <a:t>Code Editor:</a:t>
            </a:r>
            <a:r>
              <a:rPr lang="en-IN" sz="1800" dirty="0"/>
              <a:t> Monaco Editor</a:t>
            </a:r>
          </a:p>
          <a:p>
            <a:pPr lvl="0"/>
            <a:r>
              <a:rPr lang="en-IN" sz="1800" b="1" dirty="0"/>
              <a:t>Real-Time Collaboration:</a:t>
            </a:r>
            <a:r>
              <a:rPr lang="en-IN" sz="1800" dirty="0"/>
              <a:t> Socket.IO</a:t>
            </a:r>
          </a:p>
          <a:p>
            <a:pPr lvl="0"/>
            <a:r>
              <a:rPr lang="en-IN" sz="1800" b="1" dirty="0"/>
              <a:t>Code Execution:</a:t>
            </a:r>
            <a:r>
              <a:rPr lang="en-IN" sz="1800" dirty="0"/>
              <a:t> Compiler API</a:t>
            </a:r>
          </a:p>
          <a:p>
            <a:pPr lvl="0"/>
            <a:r>
              <a:rPr lang="en-IN" sz="1800" b="1" dirty="0"/>
              <a:t>Version Control:</a:t>
            </a:r>
            <a:r>
              <a:rPr lang="en-IN" sz="1800" dirty="0"/>
              <a:t> Git and GitHub</a:t>
            </a:r>
          </a:p>
          <a:p>
            <a:pPr lvl="0"/>
            <a:r>
              <a:rPr lang="en-IN" sz="1800" b="1" dirty="0"/>
              <a:t>Deployment:</a:t>
            </a:r>
            <a:r>
              <a:rPr lang="en-IN" sz="1800" dirty="0"/>
              <a:t> </a:t>
            </a:r>
            <a:r>
              <a:rPr lang="en-IN" sz="1800" dirty="0" err="1"/>
              <a:t>Vercel</a:t>
            </a:r>
            <a:r>
              <a:rPr lang="en-IN" sz="1800" dirty="0"/>
              <a:t> / Render </a:t>
            </a:r>
          </a:p>
        </p:txBody>
      </p:sp>
      <p:pic>
        <p:nvPicPr>
          <p:cNvPr id="6" name="Picture 2" descr="logo-seg-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00135" y="4325224"/>
            <a:ext cx="1343951" cy="515742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DE1140-5120-BF33-5401-DD5905CA88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804"/>
          <a:stretch>
            <a:fillRect/>
          </a:stretch>
        </p:blipFill>
        <p:spPr>
          <a:xfrm>
            <a:off x="4629852" y="1808175"/>
            <a:ext cx="3781998" cy="21732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F6EEAC-6D6D-5338-482E-8CA844AAB0F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2000"/>
          </a:blip>
          <a:stretch>
            <a:fillRect/>
          </a:stretch>
        </p:blipFill>
        <p:spPr bwMode="auto">
          <a:xfrm>
            <a:off x="2530069" y="625642"/>
            <a:ext cx="4083862" cy="4083862"/>
          </a:xfrm>
          <a:prstGeom prst="rect">
            <a:avLst/>
          </a:prstGeom>
          <a:effectLst>
            <a:outerShdw blurRad="50800" dist="38100" dir="5400000" algn="ctr" rotWithShape="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658950" y="589325"/>
            <a:ext cx="76662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000000"/>
                </a:solidFill>
                <a:latin typeface="Times New Roman" pitchFamily="18" charset="0"/>
                <a:ea typeface="Cairo"/>
                <a:cs typeface="Times New Roman" pitchFamily="18" charset="0"/>
                <a:sym typeface="Cairo"/>
              </a:rPr>
              <a:t>PROPOSED METHOD</a:t>
            </a:r>
            <a:endParaRPr sz="2600" b="1" dirty="0">
              <a:solidFill>
                <a:srgbClr val="000000"/>
              </a:solidFill>
              <a:latin typeface="Times New Roman" pitchFamily="18" charset="0"/>
              <a:ea typeface="Cairo"/>
              <a:cs typeface="Times New Roman" pitchFamily="18" charset="0"/>
              <a:sym typeface="Cairo"/>
            </a:endParaRPr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1"/>
          </p:nvPr>
        </p:nvSpPr>
        <p:spPr>
          <a:xfrm>
            <a:off x="732150" y="1386700"/>
            <a:ext cx="7592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IN" sz="1600" dirty="0"/>
              <a:t>Develop a web-based compiler for writing and executing code online.</a:t>
            </a:r>
          </a:p>
          <a:p>
            <a:pPr lvl="0"/>
            <a:r>
              <a:rPr lang="en-IN" sz="1600" dirty="0"/>
              <a:t>Integrate a code editor with a separate input/output panel for easy program testing.</a:t>
            </a:r>
          </a:p>
          <a:p>
            <a:pPr lvl="0"/>
            <a:r>
              <a:rPr lang="en-IN" sz="1600" dirty="0"/>
              <a:t>Implement real-time collaboration so multiple users can work together on the same coding screen.</a:t>
            </a:r>
          </a:p>
          <a:p>
            <a:pPr lvl="0"/>
            <a:r>
              <a:rPr lang="en-IN" sz="1600" dirty="0"/>
              <a:t>Connect the platform to a code execution service for compiling and running programs.</a:t>
            </a:r>
          </a:p>
          <a:p>
            <a:pPr lvl="0"/>
            <a:r>
              <a:rPr lang="en-IN" sz="1600" dirty="0"/>
              <a:t>Provide a user-friendly interface to simplify coding, testing, and debugging.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 descr="logo-seg-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00135" y="4325224"/>
            <a:ext cx="1343951" cy="515742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359A9B-CC34-8776-316F-208094E68D0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tretch>
            <a:fillRect/>
          </a:stretch>
        </p:blipFill>
        <p:spPr bwMode="auto">
          <a:xfrm>
            <a:off x="2530069" y="625642"/>
            <a:ext cx="4083862" cy="4083862"/>
          </a:xfrm>
          <a:prstGeom prst="rect">
            <a:avLst/>
          </a:prstGeom>
          <a:effectLst>
            <a:outerShdw blurRad="50800" dist="38100" dir="5400000" algn="ctr" rotWithShape="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8277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658950" y="589325"/>
            <a:ext cx="76662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000000"/>
                </a:solidFill>
                <a:latin typeface="Times New Roman" pitchFamily="18" charset="0"/>
                <a:ea typeface="Cairo"/>
                <a:cs typeface="Times New Roman" pitchFamily="18" charset="0"/>
                <a:sym typeface="Cairo"/>
              </a:rPr>
              <a:t>KEY FETURES</a:t>
            </a:r>
            <a:endParaRPr sz="2600" b="1" dirty="0">
              <a:solidFill>
                <a:srgbClr val="000000"/>
              </a:solidFill>
              <a:latin typeface="Times New Roman" pitchFamily="18" charset="0"/>
              <a:ea typeface="Cairo"/>
              <a:cs typeface="Times New Roman" pitchFamily="18" charset="0"/>
              <a:sym typeface="Cairo"/>
            </a:endParaRPr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1"/>
          </p:nvPr>
        </p:nvSpPr>
        <p:spPr>
          <a:xfrm>
            <a:off x="732150" y="1386700"/>
            <a:ext cx="7592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1400" b="1" dirty="0"/>
              <a:t>Online Code Execution:</a:t>
            </a:r>
            <a:r>
              <a:rPr lang="en-IN" sz="1400" dirty="0"/>
              <a:t> Write, compile, and run programs directly in the browser.</a:t>
            </a:r>
          </a:p>
          <a:p>
            <a:pPr lvl="0">
              <a:lnSpc>
                <a:spcPct val="150000"/>
              </a:lnSpc>
            </a:pPr>
            <a:r>
              <a:rPr lang="en-IN" sz="1400" b="1" dirty="0"/>
              <a:t>Real-Time Collaboration:</a:t>
            </a:r>
            <a:r>
              <a:rPr lang="en-IN" sz="1400" dirty="0"/>
              <a:t> Multiple users can connect and code together on the same screen.</a:t>
            </a:r>
          </a:p>
          <a:p>
            <a:pPr lvl="0">
              <a:lnSpc>
                <a:spcPct val="150000"/>
              </a:lnSpc>
            </a:pPr>
            <a:r>
              <a:rPr lang="en-IN" sz="1400" b="1" dirty="0"/>
              <a:t>Split Input/Output:</a:t>
            </a:r>
            <a:r>
              <a:rPr lang="en-IN" sz="1400" dirty="0"/>
              <a:t> Separate panels for providing input and viewing program output.</a:t>
            </a:r>
          </a:p>
          <a:p>
            <a:pPr lvl="0">
              <a:lnSpc>
                <a:spcPct val="150000"/>
              </a:lnSpc>
            </a:pPr>
            <a:r>
              <a:rPr lang="en-IN" sz="1400" b="1" dirty="0"/>
              <a:t>Interactive Code Editor:</a:t>
            </a:r>
            <a:r>
              <a:rPr lang="en-IN" sz="1400" dirty="0"/>
              <a:t> A structured coding environment with syntax highlighting.</a:t>
            </a:r>
          </a:p>
          <a:p>
            <a:pPr lvl="0">
              <a:lnSpc>
                <a:spcPct val="150000"/>
              </a:lnSpc>
            </a:pPr>
            <a:r>
              <a:rPr lang="en-IN" sz="1400" b="1" dirty="0"/>
              <a:t>Instant Feedback:</a:t>
            </a:r>
            <a:r>
              <a:rPr lang="en-IN" sz="1400" dirty="0"/>
              <a:t> View execution results and errors to support debugging.</a:t>
            </a:r>
          </a:p>
          <a:p>
            <a:pPr lvl="0">
              <a:lnSpc>
                <a:spcPct val="150000"/>
              </a:lnSpc>
            </a:pPr>
            <a:r>
              <a:rPr lang="en-IN" sz="1400" b="1" dirty="0"/>
              <a:t>Beginner-Friendly Interface:</a:t>
            </a:r>
            <a:r>
              <a:rPr lang="en-IN" sz="1400" dirty="0"/>
              <a:t> A simple and accessible environment for students and developers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 descr="logo-seg-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00135" y="4325224"/>
            <a:ext cx="1343951" cy="515742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328961-CB2D-98AF-DEFF-A3E9B0F510C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tretch>
            <a:fillRect/>
          </a:stretch>
        </p:blipFill>
        <p:spPr bwMode="auto">
          <a:xfrm>
            <a:off x="2530069" y="625642"/>
            <a:ext cx="4083862" cy="4083862"/>
          </a:xfrm>
          <a:prstGeom prst="rect">
            <a:avLst/>
          </a:prstGeom>
          <a:effectLst>
            <a:outerShdw blurRad="50800" dist="38100" dir="5400000" algn="ctr" rotWithShape="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658950" y="589325"/>
            <a:ext cx="76662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000000"/>
                </a:solidFill>
                <a:latin typeface="Times New Roman" pitchFamily="18" charset="0"/>
                <a:ea typeface="Cairo"/>
                <a:cs typeface="Times New Roman" pitchFamily="18" charset="0"/>
                <a:sym typeface="Cairo"/>
              </a:rPr>
              <a:t>EXPERIMENT RESULTS</a:t>
            </a:r>
            <a:endParaRPr sz="2600" b="1" dirty="0">
              <a:solidFill>
                <a:srgbClr val="000000"/>
              </a:solidFill>
              <a:latin typeface="Times New Roman" pitchFamily="18" charset="0"/>
              <a:ea typeface="Cairo"/>
              <a:cs typeface="Times New Roman" pitchFamily="18" charset="0"/>
              <a:sym typeface="Cairo"/>
            </a:endParaRPr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1"/>
          </p:nvPr>
        </p:nvSpPr>
        <p:spPr>
          <a:xfrm>
            <a:off x="732150" y="1386700"/>
            <a:ext cx="7592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/>
            <a:r>
              <a:rPr lang="en-US" sz="1800" dirty="0">
                <a:latin typeface="Cairo"/>
                <a:ea typeface="Cairo"/>
                <a:cs typeface="Cairo"/>
                <a:sym typeface="Cairo"/>
              </a:rPr>
              <a:t>Wri</a:t>
            </a:r>
            <a:r>
              <a:rPr lang="en-IN" sz="1800" dirty="0"/>
              <a:t>Successfully developed an online coding environment for writing and executing programs.</a:t>
            </a:r>
          </a:p>
          <a:p>
            <a:pPr lvl="0"/>
            <a:r>
              <a:rPr lang="en-IN" sz="1800" dirty="0"/>
              <a:t>Real-time collaboration enables multiple users to work together on the same coding screen.</a:t>
            </a:r>
          </a:p>
          <a:p>
            <a:pPr lvl="0"/>
            <a:r>
              <a:rPr lang="en-IN" sz="1800" dirty="0"/>
              <a:t>The split input/output interface improves code testing and result visibility.</a:t>
            </a:r>
          </a:p>
          <a:p>
            <a:pPr lvl="0"/>
            <a:r>
              <a:rPr lang="en-IN" sz="1800" dirty="0"/>
              <a:t>Program execution provides output and error feedback for debugging.</a:t>
            </a:r>
          </a:p>
          <a:p>
            <a:pPr lvl="0"/>
            <a:r>
              <a:rPr lang="en-IN" sz="1800" dirty="0"/>
              <a:t>The platform offers a convenient coding experience without requiring a traditional local compiler setup.</a:t>
            </a:r>
          </a:p>
          <a:p>
            <a:r>
              <a:rPr lang="en-IN" sz="1800" b="1" dirty="0"/>
              <a:t>Result:</a:t>
            </a:r>
            <a:r>
              <a:rPr lang="en-IN" sz="1800" dirty="0"/>
              <a:t> </a:t>
            </a:r>
            <a:r>
              <a:rPr lang="en-IN" sz="1800" dirty="0" err="1"/>
              <a:t>Loferyx</a:t>
            </a:r>
            <a:r>
              <a:rPr lang="en-IN" sz="1800" dirty="0"/>
              <a:t> Compiler provides an interactive and collaborative environment for online programming.</a:t>
            </a:r>
            <a:endParaRPr dirty="0"/>
          </a:p>
        </p:txBody>
      </p:sp>
      <p:pic>
        <p:nvPicPr>
          <p:cNvPr id="6" name="Picture 2" descr="logo-seg-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00135" y="4325224"/>
            <a:ext cx="1343951" cy="515742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A6E5A2-ECBB-7FBB-1138-1564D8C0990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tretch>
            <a:fillRect/>
          </a:stretch>
        </p:blipFill>
        <p:spPr bwMode="auto">
          <a:xfrm>
            <a:off x="2530069" y="625642"/>
            <a:ext cx="4083862" cy="4083862"/>
          </a:xfrm>
          <a:prstGeom prst="rect">
            <a:avLst/>
          </a:prstGeom>
          <a:effectLst>
            <a:outerShdw blurRad="50800" dist="38100" dir="5400000" algn="ctr" rotWithShape="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8277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658950" y="589325"/>
            <a:ext cx="76662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000000"/>
                </a:solidFill>
                <a:latin typeface="Times New Roman" pitchFamily="18" charset="0"/>
                <a:ea typeface="Cairo"/>
                <a:cs typeface="Times New Roman" pitchFamily="18" charset="0"/>
                <a:sym typeface="Cairo"/>
              </a:rPr>
              <a:t>CONCLUSION AND PROJECT STATUS</a:t>
            </a:r>
            <a:endParaRPr sz="2600" b="1" dirty="0">
              <a:solidFill>
                <a:srgbClr val="000000"/>
              </a:solidFill>
              <a:latin typeface="Times New Roman" pitchFamily="18" charset="0"/>
              <a:ea typeface="Cairo"/>
              <a:cs typeface="Times New Roman" pitchFamily="18" charset="0"/>
              <a:sym typeface="Cairo"/>
            </a:endParaRPr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1"/>
          </p:nvPr>
        </p:nvSpPr>
        <p:spPr>
          <a:xfrm>
            <a:off x="732150" y="1386700"/>
            <a:ext cx="7592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r>
              <a:rPr lang="en-IN" sz="1400" b="1" dirty="0"/>
              <a:t>Conclusion:</a:t>
            </a:r>
          </a:p>
          <a:p>
            <a:pPr lvl="0"/>
            <a:r>
              <a:rPr lang="en-IN" sz="1400" dirty="0" err="1"/>
              <a:t>Loferyx</a:t>
            </a:r>
            <a:r>
              <a:rPr lang="en-IN" sz="1400" dirty="0"/>
              <a:t> Compiler provides a convenient platform for online coding and program execution.</a:t>
            </a:r>
          </a:p>
          <a:p>
            <a:pPr lvl="0"/>
            <a:r>
              <a:rPr lang="en-IN" sz="1400" dirty="0"/>
              <a:t>Real-time collaboration enables users to code together on the same screen.</a:t>
            </a:r>
          </a:p>
          <a:p>
            <a:pPr lvl="0"/>
            <a:r>
              <a:rPr lang="en-IN" sz="1400" dirty="0"/>
              <a:t>The split input/output feature simplifies program testing and debugging.</a:t>
            </a:r>
          </a:p>
          <a:p>
            <a:pPr lvl="0"/>
            <a:r>
              <a:rPr lang="en-IN" sz="1400" dirty="0"/>
              <a:t>The platform aims to improve accessibility and collaboration in programming.</a:t>
            </a:r>
          </a:p>
          <a:p>
            <a:pPr marL="146050" indent="0">
              <a:buNone/>
            </a:pPr>
            <a:r>
              <a:rPr lang="en-IN" sz="1400" b="1" dirty="0"/>
              <a:t>Project Status:</a:t>
            </a:r>
          </a:p>
          <a:p>
            <a:pPr lvl="0"/>
            <a:r>
              <a:rPr lang="en-IN" sz="1400" dirty="0"/>
              <a:t>Core online coding and execution features are developed.</a:t>
            </a:r>
          </a:p>
          <a:p>
            <a:pPr lvl="0"/>
            <a:r>
              <a:rPr lang="en-IN" sz="1400" dirty="0"/>
              <a:t>Real-time collaborative coding and split input/output are key features of the platform.</a:t>
            </a:r>
          </a:p>
          <a:p>
            <a:pPr lvl="0"/>
            <a:r>
              <a:rPr lang="en-IN" sz="1400" dirty="0"/>
              <a:t>Further improvements can focus on performance, security, and additional language support.</a:t>
            </a:r>
          </a:p>
          <a:p>
            <a:pPr marL="146050" indent="0">
              <a:buNone/>
            </a:pPr>
            <a:r>
              <a:rPr lang="en-IN" sz="1400" b="1" dirty="0"/>
              <a:t>Future Scope:</a:t>
            </a:r>
            <a:r>
              <a:rPr lang="en-IN" sz="1400" dirty="0"/>
              <a:t> AI-powered coding assistance, enhanced collaboration tools, and support for more programming languages.</a:t>
            </a:r>
          </a:p>
        </p:txBody>
      </p:sp>
      <p:pic>
        <p:nvPicPr>
          <p:cNvPr id="6" name="Picture 2" descr="logo-seg-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00135" y="4325224"/>
            <a:ext cx="1343951" cy="515742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018157-1877-785C-F239-AFB8A5AE149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tretch>
            <a:fillRect/>
          </a:stretch>
        </p:blipFill>
        <p:spPr bwMode="auto">
          <a:xfrm>
            <a:off x="2530069" y="625642"/>
            <a:ext cx="4083862" cy="4083862"/>
          </a:xfrm>
          <a:prstGeom prst="rect">
            <a:avLst/>
          </a:prstGeom>
          <a:effectLst>
            <a:outerShdw blurRad="50800" dist="38100" dir="5400000" algn="ctr" rotWithShape="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658950" y="589325"/>
            <a:ext cx="76662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000000"/>
                </a:solidFill>
                <a:latin typeface="Times New Roman" pitchFamily="18" charset="0"/>
                <a:ea typeface="Cairo"/>
                <a:cs typeface="Times New Roman" pitchFamily="18" charset="0"/>
                <a:sym typeface="Cairo"/>
              </a:rPr>
              <a:t>REFERENCE</a:t>
            </a:r>
            <a:endParaRPr sz="2600" b="1" dirty="0">
              <a:solidFill>
                <a:srgbClr val="000000"/>
              </a:solidFill>
              <a:latin typeface="Times New Roman" pitchFamily="18" charset="0"/>
              <a:ea typeface="Cairo"/>
              <a:cs typeface="Times New Roman" pitchFamily="18" charset="0"/>
              <a:sym typeface="Cairo"/>
            </a:endParaRPr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1"/>
          </p:nvPr>
        </p:nvSpPr>
        <p:spPr>
          <a:xfrm>
            <a:off x="658950" y="1171325"/>
            <a:ext cx="7592700" cy="31417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lvl="0">
              <a:lnSpc>
                <a:spcPct val="210000"/>
              </a:lnSpc>
            </a:pPr>
            <a:r>
              <a:rPr lang="en-IN" sz="2900" b="1" dirty="0" err="1"/>
              <a:t>Loferyx</a:t>
            </a:r>
            <a:r>
              <a:rPr lang="en-IN" sz="2900" b="1" dirty="0"/>
              <a:t> Compiler Project:</a:t>
            </a:r>
            <a:r>
              <a:rPr lang="en-IN" sz="2900" dirty="0"/>
              <a:t> </a:t>
            </a:r>
            <a:r>
              <a:rPr lang="en-IN" sz="2200" dirty="0"/>
              <a:t>Original implementation, architecture, and feature development.</a:t>
            </a:r>
          </a:p>
          <a:p>
            <a:pPr lvl="0">
              <a:lnSpc>
                <a:spcPct val="210000"/>
              </a:lnSpc>
            </a:pPr>
            <a:r>
              <a:rPr lang="en-IN" sz="2900" b="1" dirty="0"/>
              <a:t>Remix IDE: </a:t>
            </a:r>
            <a:r>
              <a:rPr lang="en-IN" sz="2200" dirty="0"/>
              <a:t>Reference for browser-based coding, compilation, and execution — </a:t>
            </a:r>
            <a:r>
              <a:rPr lang="en-IN" sz="2200" dirty="0">
                <a:hlinkClick r:id="rId3"/>
              </a:rPr>
              <a:t>https://remix.ethereum.org/</a:t>
            </a:r>
            <a:endParaRPr lang="en-IN" sz="2200" dirty="0"/>
          </a:p>
          <a:p>
            <a:pPr lvl="0">
              <a:lnSpc>
                <a:spcPct val="210000"/>
              </a:lnSpc>
            </a:pPr>
            <a:r>
              <a:rPr lang="en-IN" sz="3000" b="1" dirty="0" err="1"/>
              <a:t>OneCompiler</a:t>
            </a:r>
            <a:r>
              <a:rPr lang="en-IN" sz="3000" b="1" dirty="0"/>
              <a:t>: </a:t>
            </a:r>
            <a:r>
              <a:rPr lang="en-IN" sz="2200" dirty="0"/>
              <a:t>Reference for online code editing and execution — </a:t>
            </a:r>
            <a:r>
              <a:rPr lang="en-IN" sz="2200" dirty="0">
                <a:hlinkClick r:id="rId4"/>
              </a:rPr>
              <a:t>https://onecompiler.com/</a:t>
            </a:r>
            <a:endParaRPr lang="en-IN" sz="2200" dirty="0"/>
          </a:p>
          <a:p>
            <a:pPr lvl="0">
              <a:lnSpc>
                <a:spcPct val="210000"/>
              </a:lnSpc>
            </a:pPr>
            <a:r>
              <a:rPr lang="en-IN" sz="2900" b="1" dirty="0"/>
              <a:t>Judge0 API Documentation: </a:t>
            </a:r>
            <a:r>
              <a:rPr lang="en-IN" sz="2200" dirty="0"/>
              <a:t>Reference for code execution and standard input handling — </a:t>
            </a:r>
            <a:r>
              <a:rPr lang="en-IN" sz="2200" dirty="0">
                <a:hlinkClick r:id="rId5"/>
              </a:rPr>
              <a:t>https://ce.judge0.com/docs</a:t>
            </a:r>
            <a:endParaRPr lang="en-IN" sz="2200" dirty="0"/>
          </a:p>
          <a:p>
            <a:pPr lvl="0">
              <a:lnSpc>
                <a:spcPct val="210000"/>
              </a:lnSpc>
            </a:pPr>
            <a:r>
              <a:rPr lang="en-IN" sz="3000" b="1" dirty="0"/>
              <a:t>Socket.IO Documentation: </a:t>
            </a:r>
            <a:r>
              <a:rPr lang="en-IN" sz="2200" dirty="0"/>
              <a:t>Reference for real-time collaboration — </a:t>
            </a:r>
            <a:r>
              <a:rPr lang="en-IN" sz="2200" dirty="0">
                <a:hlinkClick r:id="rId6"/>
              </a:rPr>
              <a:t>https://socket.io/docs/v4/</a:t>
            </a:r>
            <a:endParaRPr lang="en-IN" sz="2200" dirty="0"/>
          </a:p>
          <a:p>
            <a:pPr lvl="0">
              <a:lnSpc>
                <a:spcPct val="210000"/>
              </a:lnSpc>
            </a:pPr>
            <a:r>
              <a:rPr lang="en-IN" sz="2900" b="1" dirty="0"/>
              <a:t>Monaco Editor: </a:t>
            </a:r>
            <a:r>
              <a:rPr lang="en-IN" sz="2200" dirty="0"/>
              <a:t>Reference for interactive code editing — </a:t>
            </a:r>
            <a:r>
              <a:rPr lang="en-IN" sz="2200" dirty="0">
                <a:hlinkClick r:id="rId7"/>
              </a:rPr>
              <a:t>https://microsoft.github.io/monaco-editor/</a:t>
            </a:r>
            <a:endParaRPr lang="en-IN" sz="2200" dirty="0"/>
          </a:p>
          <a:p>
            <a:pPr lvl="0">
              <a:lnSpc>
                <a:spcPct val="210000"/>
              </a:lnSpc>
            </a:pPr>
            <a:r>
              <a:rPr lang="en-IN" sz="2900" b="1" dirty="0"/>
              <a:t>Project Testing and Validation: </a:t>
            </a:r>
            <a:r>
              <a:rPr lang="en-IN" sz="2200" dirty="0"/>
              <a:t>Testing of collaborative coding, code execution, and split input/output functionality.</a:t>
            </a:r>
          </a:p>
          <a:p>
            <a:pPr marL="0" lvl="0" indent="0" algn="l" rtl="0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 descr="logo-seg-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500135" y="4325224"/>
            <a:ext cx="1343951" cy="515742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F4DC10-5A6B-3AF6-01A5-89945C6FCEF2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22000"/>
          </a:blip>
          <a:stretch>
            <a:fillRect/>
          </a:stretch>
        </p:blipFill>
        <p:spPr bwMode="auto">
          <a:xfrm>
            <a:off x="2530069" y="625642"/>
            <a:ext cx="4083862" cy="4083862"/>
          </a:xfrm>
          <a:prstGeom prst="rect">
            <a:avLst/>
          </a:prstGeom>
          <a:effectLst>
            <a:outerShdw blurRad="50800" dist="38100" dir="5400000" algn="ctr" rotWithShape="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8277964"/>
      </p:ext>
    </p:extLst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739</Words>
  <Application>Microsoft Office PowerPoint</Application>
  <PresentationFormat>On-screen Show (16:9)</PresentationFormat>
  <Paragraphs>86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Nunito</vt:lpstr>
      <vt:lpstr>Calibri</vt:lpstr>
      <vt:lpstr>Times New Roman</vt:lpstr>
      <vt:lpstr>Arial Black</vt:lpstr>
      <vt:lpstr>Arial</vt:lpstr>
      <vt:lpstr>Cairo</vt:lpstr>
      <vt:lpstr>Shift</vt:lpstr>
      <vt:lpstr>PowerPoint Presentation</vt:lpstr>
      <vt:lpstr>CONTENT</vt:lpstr>
      <vt:lpstr>MOTIVATION</vt:lpstr>
      <vt:lpstr>INTRODUCTION   </vt:lpstr>
      <vt:lpstr>TECHNOLOGIES USED</vt:lpstr>
      <vt:lpstr>PROPOSED METHOD</vt:lpstr>
      <vt:lpstr>KEY FETURES</vt:lpstr>
      <vt:lpstr>EXPERIMENT RESULTS</vt:lpstr>
      <vt:lpstr>CONCLUSION AND PROJECT STATUS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Nitish</dc:creator>
  <cp:lastModifiedBy>Gurmeet Singh</cp:lastModifiedBy>
  <cp:revision>12</cp:revision>
  <dcterms:modified xsi:type="dcterms:W3CDTF">2026-10-28T17:00:13Z</dcterms:modified>
</cp:coreProperties>
</file>